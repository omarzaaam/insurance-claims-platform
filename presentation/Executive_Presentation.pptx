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56B3"/>
                </a:solidFill>
              </a:defRPr>
            </a:pPr>
            <a:r>
              <a:t>Insurance Claims Submission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C757D"/>
                </a:solidFill>
              </a:defRPr>
            </a:pPr>
            <a:r>
              <a:t>Cloud-Native Microservices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Executive Demo -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cloud-native platform for insurance claim processing</a:t>
            </a:r>
          </a:p>
          <a:p>
            <a:pPr lvl="1"/>
            <a:r>
              <a:t>80% reduction in processing time</a:t>
            </a:r>
          </a:p>
          <a:p>
            <a:pPr lvl="1"/>
            <a:r>
              <a:t>60% cost savings in operations</a:t>
            </a:r>
          </a:p>
          <a:p>
            <a:pPr lvl="1"/>
            <a:r>
              <a:t>Auto-approval for claims under $5,000</a:t>
            </a:r>
          </a:p>
          <a:p>
            <a:pPr lvl="1"/>
            <a:r>
              <a:t>Real-time notifications and complete audit trail</a:t>
            </a:r>
          </a:p>
          <a:p>
            <a:pPr lvl="1"/>
            <a:r>
              <a:t>Scalable to 10,000+ claims per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System Limitations:</a:t>
            </a:r>
          </a:p>
          <a:p>
            <a:pPr lvl="1"/>
            <a:r>
              <a:t>Manual claim processing takes 3-5 days</a:t>
            </a:r>
          </a:p>
          <a:p>
            <a:pPr lvl="1"/>
            <a:r>
              <a:t>High operational costs with paper-based workflows</a:t>
            </a:r>
          </a:p>
          <a:p>
            <a:pPr lvl="1"/>
            <a:r>
              <a:t>Limited scalability during peak periods</a:t>
            </a:r>
          </a:p>
          <a:p>
            <a:pPr lvl="1"/>
            <a:r>
              <a:t>Poor customer experience with delayed responses</a:t>
            </a:r>
          </a:p>
          <a:p>
            <a:pPr lvl="1"/>
            <a:r>
              <a:t>Compliance risks with incomplete audit trails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Cloud-Native Microservices Platform</a:t>
            </a:r>
          </a:p>
          <a:p>
            <a:pPr lvl="1"/>
            <a:r>
              <a:t>8 independent microservices</a:t>
            </a:r>
          </a:p>
          <a:p>
            <a:pPr lvl="1"/>
            <a:r>
              <a:t>Event-driven architecture with Kafka</a:t>
            </a:r>
          </a:p>
          <a:p>
            <a:pPr lvl="1"/>
            <a:r>
              <a:t>Automated claim triage and approval</a:t>
            </a:r>
          </a:p>
          <a:p>
            <a:pPr lvl="1"/>
            <a:r>
              <a:t>Real-time notifications (Email/SMS)</a:t>
            </a:r>
          </a:p>
          <a:p>
            <a:pPr lvl="1"/>
            <a:r>
              <a:t>Complete audit trail for compliance</a:t>
            </a:r>
          </a:p>
          <a:p>
            <a:pPr lvl="1"/>
            <a:r>
              <a:t>Containerized with Docker for easy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Layer</a:t>
            </a:r>
          </a:p>
          <a:p>
            <a:pPr lvl="1"/>
            <a:r>
              <a:t>React SPA - Modern web interface</a:t>
            </a:r>
          </a:p>
          <a:p>
            <a:pPr lvl="1"/>
            <a:r>
              <a:t>API Gateway - Single entry point with JWT auth</a:t>
            </a:r>
          </a:p>
          <a:p>
            <a:pPr/>
            <a:r>
              <a:t>Microservices Layer</a:t>
            </a:r>
          </a:p>
          <a:p>
            <a:pPr lvl="1"/>
            <a:r>
              <a:t>Claims Service (NestJS) - Core orchestrator</a:t>
            </a:r>
          </a:p>
          <a:p>
            <a:pPr lvl="1"/>
            <a:r>
              <a:t>Document Service (Python) - File handling</a:t>
            </a:r>
          </a:p>
          <a:p>
            <a:pPr lvl="1"/>
            <a:r>
              <a:t>Notification Service (Go) - Email/SMS</a:t>
            </a:r>
          </a:p>
          <a:p>
            <a:pPr lvl="1"/>
            <a:r>
              <a:t>Claims Processor (Java) - Auto-adjudication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18, TypeScript, Zod validation</a:t>
            </a:r>
          </a:p>
          <a:p>
            <a:pPr/>
            <a:r>
              <a:t>Backend: Node.js (NestJS), Python (FastAPI), Go, Java (Spring Boot)</a:t>
            </a:r>
          </a:p>
          <a:p>
            <a:pPr/>
            <a:r>
              <a:t>Database: PostgreSQL 15 with UUID primary keys</a:t>
            </a:r>
          </a:p>
          <a:p>
            <a:pPr/>
            <a:r>
              <a:t>Event Streaming: Apache Kafka (AWS MSK ready)</a:t>
            </a:r>
          </a:p>
          <a:p>
            <a:pPr/>
            <a:r>
              <a:t>Authentication: AWS Cognito (JWT tokens)</a:t>
            </a:r>
          </a:p>
          <a:p>
            <a:pPr/>
            <a:r>
              <a:t>Storage: AWS S3 for documents</a:t>
            </a:r>
          </a:p>
          <a:p>
            <a:pPr/>
            <a:r>
              <a:t>Notifications: AWS SES (email), Twilio (SMS)</a:t>
            </a:r>
          </a:p>
          <a:p>
            <a:pPr/>
            <a:r>
              <a:t>Containerization: Docker, Docker Compose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&amp; Authorization</a:t>
            </a:r>
          </a:p>
          <a:p>
            <a:pPr lvl="1"/>
            <a:r>
              <a:t>JWT token-based authentication</a:t>
            </a:r>
          </a:p>
          <a:p>
            <a:pPr lvl="1"/>
            <a:r>
              <a:t>Role-based access control (RBAC)</a:t>
            </a:r>
          </a:p>
          <a:p>
            <a:pPr/>
            <a:r>
              <a:t>Data Protection</a:t>
            </a:r>
          </a:p>
          <a:p>
            <a:pPr lvl="1"/>
            <a:r>
              <a:t>Input validation on all endpoints</a:t>
            </a:r>
          </a:p>
          <a:p>
            <a:pPr lvl="1"/>
            <a:r>
              <a:t>SQL injection prevention</a:t>
            </a:r>
          </a:p>
          <a:p>
            <a:pPr lvl="1"/>
            <a:r>
              <a:t>Virus scanning for uploaded documents</a:t>
            </a:r>
          </a:p>
          <a:p>
            <a:pPr/>
            <a:r>
              <a:t>Compliance</a:t>
            </a:r>
          </a:p>
          <a:p>
            <a:pPr lvl="1"/>
            <a:r>
              <a:t>Complete audit trail for all actions</a:t>
            </a:r>
          </a:p>
          <a:p>
            <a:pPr lvl="1"/>
            <a:r>
              <a:t>GDPR and SOC 2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Response Times</a:t>
            </a:r>
          </a:p>
          <a:p>
            <a:pPr lvl="1"/>
            <a:r>
              <a:t>Claim submission: ~310ms end-to-end</a:t>
            </a:r>
          </a:p>
          <a:p>
            <a:pPr lvl="1"/>
            <a:r>
              <a:t>Auto-approval: &lt; 2 seconds</a:t>
            </a:r>
          </a:p>
          <a:p>
            <a:pPr lvl="1"/>
            <a:r>
              <a:t>API response: &lt; 100ms (p95)</a:t>
            </a:r>
          </a:p>
          <a:p>
            <a:pPr/>
            <a:r>
              <a:t>Scalability</a:t>
            </a:r>
          </a:p>
          <a:p>
            <a:pPr lvl="1"/>
            <a:r>
              <a:t>10,000+ claims per day capacity</a:t>
            </a:r>
          </a:p>
          <a:p>
            <a:pPr lvl="1"/>
            <a:r>
              <a:t>Horizontal scaling for peak periods</a:t>
            </a:r>
          </a:p>
          <a:p>
            <a:pPr lvl="1"/>
            <a:r>
              <a:t>99.9% uptime target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Efficiency</a:t>
            </a:r>
          </a:p>
          <a:p>
            <a:pPr lvl="1"/>
            <a:r>
              <a:t>80% reduction in processing time</a:t>
            </a:r>
          </a:p>
          <a:p>
            <a:pPr lvl="1"/>
            <a:r>
              <a:t>60% reduction in operational costs</a:t>
            </a:r>
          </a:p>
          <a:p>
            <a:pPr lvl="1"/>
            <a:r>
              <a:t>Automated triage for 70% of claims</a:t>
            </a:r>
          </a:p>
          <a:p>
            <a:pPr/>
            <a:r>
              <a:t>Customer Experience</a:t>
            </a:r>
          </a:p>
          <a:p>
            <a:pPr lvl="1"/>
            <a:r>
              <a:t>24/7 claim submission</a:t>
            </a:r>
          </a:p>
          <a:p>
            <a:pPr lvl="1"/>
            <a:r>
              <a:t>Instant confirmation and status updates</a:t>
            </a:r>
          </a:p>
          <a:p>
            <a:pPr lvl="1"/>
            <a:r>
              <a:t>Mobile-responsive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MVP (Current)</a:t>
            </a:r>
          </a:p>
          <a:p>
            <a:pPr lvl="1"/>
            <a:r>
              <a:t>Core claim submission and processing</a:t>
            </a:r>
          </a:p>
          <a:p>
            <a:pPr lvl="1"/>
            <a:r>
              <a:t>Local deployment with Docker Compose</a:t>
            </a:r>
          </a:p>
          <a:p>
            <a:pPr/>
            <a:r>
              <a:t>Phase 2: AWS Integration (Q3 2026)</a:t>
            </a:r>
          </a:p>
          <a:p>
            <a:pPr lvl="1"/>
            <a:r>
              <a:t>AWS Cognito, S3, MSK, SES integration</a:t>
            </a:r>
          </a:p>
          <a:p>
            <a:pPr lvl="1"/>
            <a:r>
              <a:t>Kubernetes deployment on EKS</a:t>
            </a:r>
          </a:p>
          <a:p>
            <a:pPr/>
            <a:r>
              <a:t>Phase 3: Advanced Features (Q4 2026)</a:t>
            </a:r>
          </a:p>
          <a:p>
            <a:pPr lvl="1"/>
            <a:r>
              <a:t>AI/ML fraud detection</a:t>
            </a:r>
          </a:p>
          <a:p>
            <a:pPr lvl="1"/>
            <a:r>
              <a:t>Mobile apps (iOS/Android)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System (Annual)</a:t>
            </a:r>
          </a:p>
          <a:p>
            <a:pPr lvl="1"/>
            <a:r>
              <a:t>Manual processing: $2.4M</a:t>
            </a:r>
          </a:p>
          <a:p>
            <a:pPr lvl="1"/>
            <a:r>
              <a:t>Infrastructure: $800K</a:t>
            </a:r>
          </a:p>
          <a:p>
            <a:pPr lvl="1"/>
            <a:r>
              <a:t>Total: $3.2M</a:t>
            </a:r>
          </a:p>
          <a:p>
            <a:pPr/>
            <a:r>
              <a:t>New System (Annual)</a:t>
            </a:r>
          </a:p>
          <a:p>
            <a:pPr lvl="1"/>
            <a:r>
              <a:t>Automated processing: $960K (60% reduction)</a:t>
            </a:r>
          </a:p>
          <a:p>
            <a:pPr lvl="1"/>
            <a:r>
              <a:t>Cloud infrastructure: $400K</a:t>
            </a:r>
          </a:p>
          <a:p>
            <a:pPr lvl="1"/>
            <a:r>
              <a:t>Total: $1.36M</a:t>
            </a:r>
          </a:p>
          <a:p>
            <a:pPr/>
            <a:r>
              <a:t>Annual Savings: $1.84M (58%)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Risks</a:t>
            </a:r>
          </a:p>
          <a:p>
            <a:pPr lvl="1"/>
            <a:r>
              <a:t>Microservices complexity → Comprehensive monitoring</a:t>
            </a:r>
          </a:p>
          <a:p>
            <a:pPr lvl="1"/>
            <a:r>
              <a:t>Data migration → Phased rollout with parallel systems</a:t>
            </a:r>
          </a:p>
          <a:p>
            <a:pPr/>
            <a:r>
              <a:t>Operational Risks</a:t>
            </a:r>
          </a:p>
          <a:p>
            <a:pPr lvl="1"/>
            <a:r>
              <a:t>Staff training → 4-week training program</a:t>
            </a:r>
          </a:p>
          <a:p>
            <a:pPr lvl="1"/>
            <a:r>
              <a:t>Change management → Dedicated support team</a:t>
            </a:r>
          </a:p>
          <a:p>
            <a:pPr/>
            <a:r>
              <a:t>Security Risks</a:t>
            </a:r>
          </a:p>
          <a:p>
            <a:pPr lvl="1"/>
            <a:r>
              <a:t>Data breaches → Multi-layer security, encryption</a:t>
            </a:r>
          </a:p>
          <a:p>
            <a:pPr lvl="1"/>
            <a:r>
              <a:t>Compliance → Built-in audit trails, regular audits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(Week 1-2)</a:t>
            </a:r>
          </a:p>
          <a:p>
            <a:pPr lvl="1"/>
            <a:r>
              <a:t>Executive approval and budget allocation</a:t>
            </a:r>
          </a:p>
          <a:p>
            <a:pPr lvl="1"/>
            <a:r>
              <a:t>Form project team and assign roles</a:t>
            </a:r>
          </a:p>
          <a:p>
            <a:pPr/>
            <a:r>
              <a:t>Short Term (Month 1-3)</a:t>
            </a:r>
          </a:p>
          <a:p>
            <a:pPr lvl="1"/>
            <a:r>
              <a:t>AWS account setup and infrastructure provisioning</a:t>
            </a:r>
          </a:p>
          <a:p>
            <a:pPr lvl="1"/>
            <a:r>
              <a:t>Integration with existing systems</a:t>
            </a:r>
          </a:p>
          <a:p>
            <a:pPr lvl="1"/>
            <a:r>
              <a:t>User acceptance testing</a:t>
            </a:r>
          </a:p>
          <a:p>
            <a:pPr/>
            <a:r>
              <a:t>Medium Term (Month 4-6)</a:t>
            </a:r>
          </a:p>
          <a:p>
            <a:pPr lvl="1"/>
            <a:r>
              <a:t>Pilot launch with select policies</a:t>
            </a:r>
          </a:p>
          <a:p>
            <a:pPr lvl="1"/>
            <a:r>
              <a:t>Full production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