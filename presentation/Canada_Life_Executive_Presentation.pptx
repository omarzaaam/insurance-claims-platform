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CANADA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Insurance Claims</a:t>
            </a:r>
          </a:p>
          <a:p>
            <a:pPr algn="ctr">
              <a:defRPr sz="4800" b="1">
                <a:solidFill>
                  <a:srgbClr val="FFFFFF"/>
                </a:solidFill>
              </a:defRPr>
            </a:pPr>
            <a:r>
              <a:t>Submission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Cloud-Native Microservices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Executive Presentation •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Canada Life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097280"/>
            <a:ext cx="228600" cy="228600"/>
          </a:xfrm>
          <a:prstGeom prst="ellipse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05156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Modern cloud-native platform for insurance claim processing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1554480"/>
            <a:ext cx="228600" cy="228600"/>
          </a:xfrm>
          <a:prstGeom prst="ellipse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50876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80% reduction in processing time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011680"/>
            <a:ext cx="228600" cy="228600"/>
          </a:xfrm>
          <a:prstGeom prst="ellipse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96596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60% cost savings in operations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68880"/>
            <a:ext cx="228600" cy="228600"/>
          </a:xfrm>
          <a:prstGeom prst="ellipse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42316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Auto-approval for claims under $5,000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2926080"/>
            <a:ext cx="228600" cy="228600"/>
          </a:xfrm>
          <a:prstGeom prst="ellipse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88036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Real-time notifications and complete audit trail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3383280"/>
            <a:ext cx="228600" cy="228600"/>
          </a:xfrm>
          <a:prstGeom prst="ellipse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33756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Scalable to 10,000+ claims per day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Business Challenge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Canada Life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097280"/>
            <a:ext cx="7680960" cy="1097280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00A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280160"/>
            <a:ext cx="6949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783F"/>
                </a:solidFill>
              </a:defRPr>
            </a:pPr>
            <a:r>
              <a:t>Current System Limitations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560320"/>
            <a:ext cx="228600" cy="228600"/>
          </a:xfrm>
          <a:prstGeom prst="ellipse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51460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Manual claim processing takes 3-5 days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017520"/>
            <a:ext cx="228600" cy="228600"/>
          </a:xfrm>
          <a:prstGeom prst="ellipse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97180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High operational costs with paper-based workflows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474720"/>
            <a:ext cx="228600" cy="228600"/>
          </a:xfrm>
          <a:prstGeom prst="ellipse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42900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Limited scalability during peak periods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931920"/>
            <a:ext cx="228600" cy="228600"/>
          </a:xfrm>
          <a:prstGeom prst="ellipse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88620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Poor customer experience with delayed responses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389120"/>
            <a:ext cx="228600" cy="228600"/>
          </a:xfrm>
          <a:prstGeom prst="ellipse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34340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Compliance risks with incomplete audit trails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Solution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Canada Life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097280"/>
            <a:ext cx="7680960" cy="914400"/>
          </a:xfrm>
          <a:prstGeom prst="roundRect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280160"/>
            <a:ext cx="6949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Cloud-Native Microservices Platform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377440"/>
            <a:ext cx="228600" cy="228600"/>
          </a:xfrm>
          <a:prstGeom prst="ellipse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3317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8 independent microservices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834640"/>
            <a:ext cx="228600" cy="228600"/>
          </a:xfrm>
          <a:prstGeom prst="ellipse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Event-driven architecture with Kafka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291840"/>
            <a:ext cx="228600" cy="228600"/>
          </a:xfrm>
          <a:prstGeom prst="ellipse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2461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Automated claim triage and approval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749039"/>
            <a:ext cx="228600" cy="228600"/>
          </a:xfrm>
          <a:prstGeom prst="ellipse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7033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Real-time notifications (Email/SMS)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206240"/>
            <a:ext cx="228600" cy="228600"/>
          </a:xfrm>
          <a:prstGeom prst="ellipse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1605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Complete audit trail for compliance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4663440"/>
            <a:ext cx="228600" cy="228600"/>
          </a:xfrm>
          <a:prstGeom prst="ellipse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6177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Containerized with Docker for easy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Architecture Components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Canada Life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188720"/>
            <a:ext cx="7315200" cy="1097280"/>
          </a:xfrm>
          <a:prstGeom prst="roundRect">
            <a:avLst/>
          </a:prstGeom>
          <a:solidFill>
            <a:srgbClr val="E6F7ED"/>
          </a:solidFill>
          <a:ln w="25400">
            <a:solidFill>
              <a:srgbClr val="00A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280160"/>
            <a:ext cx="6949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783F"/>
                </a:solidFill>
              </a:defRPr>
            </a:pPr>
            <a:r>
              <a:t>Presentation Layer</a:t>
            </a:r>
          </a:p>
        </p:txBody>
      </p:sp>
      <p:sp>
        <p:nvSpPr>
          <p:cNvPr id="9" name="Oval 8"/>
          <p:cNvSpPr/>
          <p:nvPr/>
        </p:nvSpPr>
        <p:spPr>
          <a:xfrm>
            <a:off x="1371600" y="1645920"/>
            <a:ext cx="228600" cy="228600"/>
          </a:xfrm>
          <a:prstGeom prst="ellipse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39" y="1600200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React SPA - Modern web interface</a:t>
            </a:r>
          </a:p>
        </p:txBody>
      </p:sp>
      <p:sp>
        <p:nvSpPr>
          <p:cNvPr id="11" name="Oval 10"/>
          <p:cNvSpPr/>
          <p:nvPr/>
        </p:nvSpPr>
        <p:spPr>
          <a:xfrm>
            <a:off x="1371600" y="2011680"/>
            <a:ext cx="228600" cy="228600"/>
          </a:xfrm>
          <a:prstGeom prst="ellipse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39" y="1965960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API Gateway - Single entry point with JWT auth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560320"/>
            <a:ext cx="7315200" cy="2011680"/>
          </a:xfrm>
          <a:prstGeom prst="roundRect">
            <a:avLst/>
          </a:prstGeom>
          <a:solidFill>
            <a:srgbClr val="E6F7ED"/>
          </a:solidFill>
          <a:ln w="25400">
            <a:solidFill>
              <a:srgbClr val="00A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651760"/>
            <a:ext cx="6949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783F"/>
                </a:solidFill>
              </a:defRPr>
            </a:pPr>
            <a:r>
              <a:t>Microservices Layer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3017520"/>
            <a:ext cx="228600" cy="228600"/>
          </a:xfrm>
          <a:prstGeom prst="ellipse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39" y="2971800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Claims Service (NestJS) - Core orchestrator</a:t>
            </a:r>
          </a:p>
        </p:txBody>
      </p:sp>
      <p:sp>
        <p:nvSpPr>
          <p:cNvPr id="17" name="Oval 16"/>
          <p:cNvSpPr/>
          <p:nvPr/>
        </p:nvSpPr>
        <p:spPr>
          <a:xfrm>
            <a:off x="1371600" y="3383279"/>
            <a:ext cx="228600" cy="228600"/>
          </a:xfrm>
          <a:prstGeom prst="ellipse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39" y="3337560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Document Service (Python) - File handling</a:t>
            </a:r>
          </a:p>
        </p:txBody>
      </p:sp>
      <p:sp>
        <p:nvSpPr>
          <p:cNvPr id="19" name="Oval 18"/>
          <p:cNvSpPr/>
          <p:nvPr/>
        </p:nvSpPr>
        <p:spPr>
          <a:xfrm>
            <a:off x="1371600" y="3749039"/>
            <a:ext cx="228600" cy="228600"/>
          </a:xfrm>
          <a:prstGeom prst="ellipse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39" y="3703320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Notification Service (Go) - Email/SMS</a:t>
            </a:r>
          </a:p>
        </p:txBody>
      </p:sp>
      <p:sp>
        <p:nvSpPr>
          <p:cNvPr id="21" name="Oval 20"/>
          <p:cNvSpPr/>
          <p:nvPr/>
        </p:nvSpPr>
        <p:spPr>
          <a:xfrm>
            <a:off x="1371600" y="4114800"/>
            <a:ext cx="228600" cy="228600"/>
          </a:xfrm>
          <a:prstGeom prst="ellipse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39" y="4069080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Claims Processor (Java) - Auto-adjudication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846320"/>
            <a:ext cx="7315200" cy="914400"/>
          </a:xfrm>
          <a:prstGeom prst="roundRect">
            <a:avLst/>
          </a:prstGeom>
          <a:solidFill>
            <a:srgbClr val="E6F7ED"/>
          </a:solidFill>
          <a:ln w="25400">
            <a:solidFill>
              <a:srgbClr val="00A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937760"/>
            <a:ext cx="6949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783F"/>
                </a:solidFill>
              </a:defRPr>
            </a:pPr>
            <a:r>
              <a:t>Data Layer</a:t>
            </a:r>
          </a:p>
        </p:txBody>
      </p:sp>
      <p:sp>
        <p:nvSpPr>
          <p:cNvPr id="25" name="Oval 24"/>
          <p:cNvSpPr/>
          <p:nvPr/>
        </p:nvSpPr>
        <p:spPr>
          <a:xfrm>
            <a:off x="1371600" y="5303520"/>
            <a:ext cx="228600" cy="228600"/>
          </a:xfrm>
          <a:prstGeom prst="ellipse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39" y="5257800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PostgreSQL 15 • Kafka Event Streaming • AWS S3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Canada Life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097280"/>
            <a:ext cx="228600" cy="228600"/>
          </a:xfrm>
          <a:prstGeom prst="ellipse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05156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Frontend: React 18, TypeScript, Zod validation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1554480"/>
            <a:ext cx="228600" cy="228600"/>
          </a:xfrm>
          <a:prstGeom prst="ellipse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50876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Backend: Node.js, Python, Go, Java (Spring Boot)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011680"/>
            <a:ext cx="228600" cy="228600"/>
          </a:xfrm>
          <a:prstGeom prst="ellipse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96596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Database: PostgreSQL 15 with UUID primary keys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68880"/>
            <a:ext cx="228600" cy="228600"/>
          </a:xfrm>
          <a:prstGeom prst="ellipse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42316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Event Streaming: Apache Kafka (AWS MSK ready)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2926080"/>
            <a:ext cx="228600" cy="228600"/>
          </a:xfrm>
          <a:prstGeom prst="ellipse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88036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Authentication: AWS Cognito (JWT tokens)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3383280"/>
            <a:ext cx="228600" cy="228600"/>
          </a:xfrm>
          <a:prstGeom prst="ellipse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33756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Storage: AWS S3 for documents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3840480"/>
            <a:ext cx="228600" cy="228600"/>
          </a:xfrm>
          <a:prstGeom prst="ellipse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79476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Notifications: AWS SES (email), Twilio (SMS)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4297680"/>
            <a:ext cx="228600" cy="228600"/>
          </a:xfrm>
          <a:prstGeom prst="ellipse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25196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Containerization: Docker, Kubernetes ready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Security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Canada Life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2286000" cy="4114800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00A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783F"/>
                </a:solidFill>
              </a:defRPr>
            </a:pPr>
            <a:r>
              <a:t>Authentication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🔑 JWT tokens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5176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👤 RBAC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0040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🔐 MFA ready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39" y="1371600"/>
            <a:ext cx="2286000" cy="4114800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00A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79" y="155448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783F"/>
                </a:solidFill>
              </a:defRPr>
            </a:pPr>
            <a:r>
              <a:t>Data Protection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10312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✓ Input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65176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🛡 SQL injection prevention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20040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🦠 Virus scanning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59" y="1371600"/>
            <a:ext cx="2286000" cy="4114800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00A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599" y="155448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783F"/>
                </a:solidFill>
              </a:defRPr>
            </a:pPr>
            <a:r>
              <a:t>Compliance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210312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📝 Audit trail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65176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📊 GDPR ready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320040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🏛 SOC 2 ready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Performance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Canada Life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1828800" cy="1828800"/>
          </a:xfrm>
          <a:prstGeom prst="roundRect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1168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6888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310ms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0175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Claim Submission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1828800"/>
            <a:ext cx="1828800" cy="1828800"/>
          </a:xfrm>
          <a:prstGeom prst="roundRect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201168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46888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&lt; 2 sec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0175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Auto-Approval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931920"/>
            <a:ext cx="1828800" cy="1828800"/>
          </a:xfrm>
          <a:prstGeom prst="roundRect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1148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57200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10,000+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1206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Claims/Day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17520" y="3931920"/>
            <a:ext cx="1828800" cy="1828800"/>
          </a:xfrm>
          <a:prstGeom prst="roundRect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08960" y="41148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457200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99.9%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51206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Uptime Target</a:t>
            </a:r>
          </a:p>
        </p:txBody>
      </p:sp>
      <p:sp>
        <p:nvSpPr>
          <p:cNvPr id="23" name="Oval 22"/>
          <p:cNvSpPr/>
          <p:nvPr/>
        </p:nvSpPr>
        <p:spPr>
          <a:xfrm>
            <a:off x="5029200" y="4572000"/>
            <a:ext cx="228600" cy="228600"/>
          </a:xfrm>
          <a:prstGeom prst="ellipse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45262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Horizontal scaling for peak periods</a:t>
            </a:r>
          </a:p>
        </p:txBody>
      </p:sp>
      <p:sp>
        <p:nvSpPr>
          <p:cNvPr id="25" name="Oval 24"/>
          <p:cNvSpPr/>
          <p:nvPr/>
        </p:nvSpPr>
        <p:spPr>
          <a:xfrm>
            <a:off x="5029200" y="5029200"/>
            <a:ext cx="228600" cy="228600"/>
          </a:xfrm>
          <a:prstGeom prst="ellipse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49834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API response &lt; 100ms (p95)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Business Benefits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Canada Life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3657600" cy="2286000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00A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783F"/>
                </a:solidFill>
              </a:defRPr>
            </a:pPr>
            <a:r>
              <a:t>Operational Efficiency</a:t>
            </a:r>
          </a:p>
        </p:txBody>
      </p:sp>
      <p:sp>
        <p:nvSpPr>
          <p:cNvPr id="9" name="Oval 8"/>
          <p:cNvSpPr/>
          <p:nvPr/>
        </p:nvSpPr>
        <p:spPr>
          <a:xfrm>
            <a:off x="1188720" y="1920240"/>
            <a:ext cx="228600" cy="228600"/>
          </a:xfrm>
          <a:prstGeom prst="ellipse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874520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80% faster processing</a:t>
            </a:r>
          </a:p>
        </p:txBody>
      </p:sp>
      <p:sp>
        <p:nvSpPr>
          <p:cNvPr id="11" name="Oval 10"/>
          <p:cNvSpPr/>
          <p:nvPr/>
        </p:nvSpPr>
        <p:spPr>
          <a:xfrm>
            <a:off x="1188720" y="2377440"/>
            <a:ext cx="228600" cy="228600"/>
          </a:xfrm>
          <a:prstGeom prst="ellipse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331720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60% cost reduction</a:t>
            </a:r>
          </a:p>
        </p:txBody>
      </p:sp>
      <p:sp>
        <p:nvSpPr>
          <p:cNvPr id="13" name="Oval 12"/>
          <p:cNvSpPr/>
          <p:nvPr/>
        </p:nvSpPr>
        <p:spPr>
          <a:xfrm>
            <a:off x="1188720" y="2834640"/>
            <a:ext cx="228600" cy="228600"/>
          </a:xfrm>
          <a:prstGeom prst="ellipse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788920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70% auto-triage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1188720"/>
            <a:ext cx="3657600" cy="2286000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00A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13716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783F"/>
                </a:solidFill>
              </a:defRPr>
            </a:pPr>
            <a:r>
              <a:t>Customer Experience</a:t>
            </a:r>
          </a:p>
        </p:txBody>
      </p:sp>
      <p:sp>
        <p:nvSpPr>
          <p:cNvPr id="17" name="Oval 16"/>
          <p:cNvSpPr/>
          <p:nvPr/>
        </p:nvSpPr>
        <p:spPr>
          <a:xfrm>
            <a:off x="5212080" y="1920240"/>
            <a:ext cx="228600" cy="228600"/>
          </a:xfrm>
          <a:prstGeom prst="ellipse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32120" y="1874520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24/7 submission</a:t>
            </a:r>
          </a:p>
        </p:txBody>
      </p:sp>
      <p:sp>
        <p:nvSpPr>
          <p:cNvPr id="19" name="Oval 18"/>
          <p:cNvSpPr/>
          <p:nvPr/>
        </p:nvSpPr>
        <p:spPr>
          <a:xfrm>
            <a:off x="5212080" y="2377440"/>
            <a:ext cx="228600" cy="228600"/>
          </a:xfrm>
          <a:prstGeom prst="ellipse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2120" y="2331720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Real-time updates</a:t>
            </a:r>
          </a:p>
        </p:txBody>
      </p:sp>
      <p:sp>
        <p:nvSpPr>
          <p:cNvPr id="21" name="Oval 20"/>
          <p:cNvSpPr/>
          <p:nvPr/>
        </p:nvSpPr>
        <p:spPr>
          <a:xfrm>
            <a:off x="5212080" y="2834640"/>
            <a:ext cx="228600" cy="228600"/>
          </a:xfrm>
          <a:prstGeom prst="ellipse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2788920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Mobile-responsive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840480"/>
            <a:ext cx="7680960" cy="2103120"/>
          </a:xfrm>
          <a:prstGeom prst="roundRect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114800"/>
            <a:ext cx="69494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ROI: $1.84M Annual Savings</a:t>
            </a:r>
          </a:p>
          <a:p>
            <a:pPr algn="ctr">
              <a:defRPr sz="3200" b="1">
                <a:solidFill>
                  <a:srgbClr val="FFFFFF"/>
                </a:solidFill>
              </a:defRPr>
            </a:pPr>
            <a:r>
              <a:t>58% Cost Reduction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Deployment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Canada Life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7680960" cy="1280160"/>
          </a:xfrm>
          <a:prstGeom prst="roundRect">
            <a:avLst/>
          </a:prstGeom>
          <a:solidFill>
            <a:srgbClr val="00A758"/>
          </a:solidFill>
          <a:ln w="25400">
            <a:solidFill>
              <a:srgbClr val="00A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Phase 1: MVP (Current)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6949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Core claim submission • Local deployment • Docker Compose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26080"/>
            <a:ext cx="7680960" cy="1280160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00A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783F"/>
                </a:solidFill>
              </a:defRPr>
            </a:pPr>
            <a:r>
              <a:t>Phase 2: Q3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383280"/>
            <a:ext cx="6949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AWS integration • Kubernetes/EKS • Production 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80560"/>
            <a:ext cx="7680960" cy="1280160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00A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5720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783F"/>
                </a:solidFill>
              </a:defRPr>
            </a:pPr>
            <a:r>
              <a:t>Phase 3: Q4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937760"/>
            <a:ext cx="6949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AI/ML fraud detection • Mobile apps • Analytics dashboard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Cost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Canada Life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657600" cy="3657600"/>
          </a:xfrm>
          <a:prstGeom prst="roundRect">
            <a:avLst/>
          </a:prstGeom>
          <a:solidFill>
            <a:srgbClr val="FFEBEB"/>
          </a:solidFill>
          <a:ln w="381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DC3545"/>
                </a:solidFill>
              </a:defRPr>
            </a:pPr>
            <a:r>
              <a:t>Current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031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Manual processing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1031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DC3545"/>
                </a:solidFill>
              </a:defRPr>
            </a:pPr>
            <a:r>
              <a:t>$2.4M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5603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Infrastructure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560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DC3545"/>
                </a:solidFill>
              </a:defRPr>
            </a:pPr>
            <a:r>
              <a:t>$800K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017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Total Annual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017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DC3545"/>
                </a:solidFill>
              </a:defRPr>
            </a:pPr>
            <a:r>
              <a:t>$3.2M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1371600"/>
            <a:ext cx="3657600" cy="3657600"/>
          </a:xfrm>
          <a:prstGeom prst="roundRect">
            <a:avLst/>
          </a:prstGeom>
          <a:solidFill>
            <a:srgbClr val="E6F7ED"/>
          </a:solidFill>
          <a:ln w="38100">
            <a:solidFill>
              <a:srgbClr val="00A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155448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783F"/>
                </a:solidFill>
              </a:defRPr>
            </a:pPr>
            <a:r>
              <a:t>New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1031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Automated processing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1031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00783F"/>
                </a:solidFill>
              </a:defRPr>
            </a:pPr>
            <a:r>
              <a:t>$960K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5603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Cloud infrastructure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2560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00783F"/>
                </a:solidFill>
              </a:defRPr>
            </a:pPr>
            <a:r>
              <a:t>$400K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3017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Total Annual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017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00783F"/>
                </a:solidFill>
              </a:defRPr>
            </a:pPr>
            <a:r>
              <a:t>$1.36M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28800" y="5303520"/>
            <a:ext cx="5486400" cy="731520"/>
          </a:xfrm>
          <a:prstGeom prst="roundRect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11680" y="544068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Annual Savings: $1.84M (58% Reduction)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Risk Mitigation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Canada Life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7680960" cy="457200"/>
          </a:xfrm>
          <a:prstGeom prst="roundRect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2344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Technical Risks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737360"/>
            <a:ext cx="6949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Microservices complexity → Comprehensive monitoring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48840"/>
            <a:ext cx="6949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Data migration → Phased rollout with parallel systems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743200"/>
            <a:ext cx="7680960" cy="457200"/>
          </a:xfrm>
          <a:prstGeom prst="roundRect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788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Operational Risks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291840"/>
            <a:ext cx="6949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Staff training → 4-week training program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703320"/>
            <a:ext cx="6949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Change management → Dedicated support team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97680"/>
            <a:ext cx="7680960" cy="457200"/>
          </a:xfrm>
          <a:prstGeom prst="roundRect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3434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Security Risks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846320"/>
            <a:ext cx="6949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Data breaches → Multi-layer security, encryption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257800"/>
            <a:ext cx="6949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Compliance → Built-in audit trails, regular audits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Canada Life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1371600" cy="365760"/>
          </a:xfrm>
          <a:prstGeom prst="roundRect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344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Week 1-2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1887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783F"/>
                </a:solidFill>
              </a:defRPr>
            </a:pPr>
            <a:r>
              <a:t>Immediate Actions</a:t>
            </a:r>
          </a:p>
        </p:txBody>
      </p:sp>
      <p:sp>
        <p:nvSpPr>
          <p:cNvPr id="10" name="Oval 9"/>
          <p:cNvSpPr/>
          <p:nvPr/>
        </p:nvSpPr>
        <p:spPr>
          <a:xfrm>
            <a:off x="1188720" y="1645920"/>
            <a:ext cx="228600" cy="228600"/>
          </a:xfrm>
          <a:prstGeom prst="ellipse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600200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Executive approval and budget allocation</a:t>
            </a:r>
          </a:p>
        </p:txBody>
      </p:sp>
      <p:sp>
        <p:nvSpPr>
          <p:cNvPr id="12" name="Oval 11"/>
          <p:cNvSpPr/>
          <p:nvPr/>
        </p:nvSpPr>
        <p:spPr>
          <a:xfrm>
            <a:off x="1188720" y="2011680"/>
            <a:ext cx="228600" cy="228600"/>
          </a:xfrm>
          <a:prstGeom prst="ellipse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1965960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Form project team and assign roles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651760"/>
            <a:ext cx="1371600" cy="365760"/>
          </a:xfrm>
          <a:prstGeom prst="roundRect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697479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Month 1-3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26517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783F"/>
                </a:solidFill>
              </a:defRPr>
            </a:pPr>
            <a:r>
              <a:t>Short Term</a:t>
            </a:r>
          </a:p>
        </p:txBody>
      </p:sp>
      <p:sp>
        <p:nvSpPr>
          <p:cNvPr id="17" name="Oval 16"/>
          <p:cNvSpPr/>
          <p:nvPr/>
        </p:nvSpPr>
        <p:spPr>
          <a:xfrm>
            <a:off x="1188720" y="3108960"/>
            <a:ext cx="228600" cy="228600"/>
          </a:xfrm>
          <a:prstGeom prst="ellipse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063240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AWS account setup and infrastructure</a:t>
            </a:r>
          </a:p>
        </p:txBody>
      </p:sp>
      <p:sp>
        <p:nvSpPr>
          <p:cNvPr id="19" name="Oval 18"/>
          <p:cNvSpPr/>
          <p:nvPr/>
        </p:nvSpPr>
        <p:spPr>
          <a:xfrm>
            <a:off x="1188720" y="3474720"/>
            <a:ext cx="228600" cy="228600"/>
          </a:xfrm>
          <a:prstGeom prst="ellipse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429000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Integration with existing systems</a:t>
            </a:r>
          </a:p>
        </p:txBody>
      </p:sp>
      <p:sp>
        <p:nvSpPr>
          <p:cNvPr id="21" name="Oval 20"/>
          <p:cNvSpPr/>
          <p:nvPr/>
        </p:nvSpPr>
        <p:spPr>
          <a:xfrm>
            <a:off x="1188720" y="3840480"/>
            <a:ext cx="228600" cy="228600"/>
          </a:xfrm>
          <a:prstGeom prst="ellipse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3794760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User acceptance testing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480560"/>
            <a:ext cx="1371600" cy="365760"/>
          </a:xfrm>
          <a:prstGeom prst="roundRect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5262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Month 4-6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44805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783F"/>
                </a:solidFill>
              </a:defRPr>
            </a:pPr>
            <a:r>
              <a:t>Medium Term</a:t>
            </a:r>
          </a:p>
        </p:txBody>
      </p:sp>
      <p:sp>
        <p:nvSpPr>
          <p:cNvPr id="26" name="Oval 25"/>
          <p:cNvSpPr/>
          <p:nvPr/>
        </p:nvSpPr>
        <p:spPr>
          <a:xfrm>
            <a:off x="1188720" y="4937760"/>
            <a:ext cx="228600" cy="228600"/>
          </a:xfrm>
          <a:prstGeom prst="ellipse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4892040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Pilot launch with select policies</a:t>
            </a:r>
          </a:p>
        </p:txBody>
      </p:sp>
      <p:sp>
        <p:nvSpPr>
          <p:cNvPr id="28" name="Oval 27"/>
          <p:cNvSpPr/>
          <p:nvPr/>
        </p:nvSpPr>
        <p:spPr>
          <a:xfrm>
            <a:off x="1188720" y="5303520"/>
            <a:ext cx="228600" cy="228600"/>
          </a:xfrm>
          <a:prstGeom prst="ellipse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5257800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Full production rollout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71600" y="5303520"/>
            <a:ext cx="6400800" cy="731520"/>
          </a:xfrm>
          <a:prstGeom prst="roundRect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54480" y="5440680"/>
            <a:ext cx="6035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Ready to Transform Claims Processing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